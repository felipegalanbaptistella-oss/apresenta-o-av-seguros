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313" r:id="rId3"/>
    <p:sldId id="322" r:id="rId4"/>
    <p:sldId id="314" r:id="rId5"/>
    <p:sldId id="317" r:id="rId6"/>
    <p:sldId id="315" r:id="rId7"/>
    <p:sldId id="316" r:id="rId8"/>
    <p:sldId id="311" r:id="rId9"/>
    <p:sldId id="318" r:id="rId10"/>
    <p:sldId id="319" r:id="rId11"/>
    <p:sldId id="320" r:id="rId12"/>
    <p:sldId id="326" r:id="rId13"/>
    <p:sldId id="321" r:id="rId14"/>
    <p:sldId id="325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bio Kenji  Hassui" initials="FH" lastIdx="1" clrIdx="0">
    <p:extLst>
      <p:ext uri="{19B8F6BF-5375-455C-9EA6-DF929625EA0E}">
        <p15:presenceInfo xmlns:p15="http://schemas.microsoft.com/office/powerpoint/2012/main" userId="S::fabio.100402@agenteinvest.com.br::248ff650-6745-457b-a503-306e1bacd87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9560"/>
    <a:srgbClr val="FFFFFF"/>
    <a:srgbClr val="A58745"/>
    <a:srgbClr val="886B25"/>
    <a:srgbClr val="FFC971"/>
    <a:srgbClr val="00021E"/>
    <a:srgbClr val="001845"/>
    <a:srgbClr val="001137"/>
    <a:srgbClr val="000C33"/>
    <a:srgbClr val="5A68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FD130-C9CF-4F0A-8822-1B95A951F3DD}" v="215" dt="2026-07-17T21:11:47.275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Escuro 1 - Ênfas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842" autoAdjust="0"/>
  </p:normalViewPr>
  <p:slideViewPr>
    <p:cSldViewPr snapToGrid="0">
      <p:cViewPr varScale="1">
        <p:scale>
          <a:sx n="100" d="100"/>
          <a:sy n="100" d="100"/>
        </p:scale>
        <p:origin x="52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36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0CF8790-AC38-178D-6317-16553BA366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FE02780-36D2-9945-A1B4-01FD37F218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5AC79-53BA-4A51-921C-8D0783828C7C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3E20FD-59EE-54AB-6B28-6FBE088A0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C089DD-CBF2-1ED7-BA55-B1DB6B58C7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E4A96-082D-4CE1-8537-E93FE4BC52B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55756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2B75-57E3-4F00-A772-95EBE667B36A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601A93-4EE0-45FF-8A9F-025B996613A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501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074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E7EA9-1BA4-7C29-5787-296B6BC06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DCD214-1083-561D-ECE5-20C302538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2149B4-7AD3-E498-8091-3A06F96E1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77FD16-4456-23EF-4210-D95763B74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633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2D62E-8071-57DA-6BD5-73142D614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DCCE8D-F2BE-EC96-494C-B33D237E3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473DF5-4531-5583-773A-44F627E8B5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651CB8-CF36-AD43-5DEE-AB5A5F8FBB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858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9DC5-4537-DAE8-B41C-5140A496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B6F25F6-5DC3-6992-D89F-40236BC68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1C40BDD-77BB-73BA-CD8D-6262E315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42B12D-BA6E-EC7A-780B-1B2CF1B52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178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18126-9584-1F86-9FDB-C5B62062E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5DFBCC-3DA5-19B2-1233-64535FBFC4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54E8E2B-96D4-E6E2-1361-DB85977C5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EF7C68-99F2-77EB-D7CA-6FF1FEA5A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2166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EAECF-3A62-ED08-3F29-729E1F6C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C62620-15D9-CB2D-B9AC-45696DA62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4196F6-0E54-CC52-3E29-4B18F9337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D3B7C4-51E8-F636-1377-81E924DD6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7757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107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2F64-A17B-2954-8035-216C1039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FEEDC7-7C9E-A0EB-B834-7F3830493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B1F6092-7F96-D3DC-AC82-DF1EC549B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A11F77-B52E-6A23-225F-8F0D0FC5E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973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0130-B65D-0BD4-5F20-FA72A3875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E85716-58C9-3BBF-D982-6F0C049FC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7317C9F-28AD-9ED0-F417-F5441DDD4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A383AF-F523-01DD-981B-4DA8E809D6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4893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09C15-0332-AAC4-D331-3F8B25F2F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B74267-3F18-0695-A249-9F9C265A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19F71F-A1F5-84CA-2F67-1980A9EDA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32806A-5806-E3DD-021F-2BF9F8166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528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32668-AA1F-2F27-F51D-F7F39045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0A9105-88E2-C454-C986-54D6052D3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F3A2F9-BF24-0C11-C2A2-8254E769C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F76AB3-C259-7970-D1D0-2CBAF057A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2560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F1F30-3E6A-AC14-D3D2-42D27694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E1DEB54-5EF5-5D4E-866D-8B8EDD5ECA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56A2000-C8A6-F681-754C-89E2F3D48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FE36BA-77E0-4BC1-0C64-64645D5485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79695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601A93-4EE0-45FF-8A9F-025B996613A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839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ítulo e Conteúdo">
    <p:bg>
      <p:bgPr>
        <a:solidFill>
          <a:srgbClr val="000C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851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Imagem em preto e branco&#10;&#10;Descrição gerada automaticamente">
            <a:extLst>
              <a:ext uri="{FF2B5EF4-FFF2-40B4-BE49-F238E27FC236}">
                <a16:creationId xmlns:a16="http://schemas.microsoft.com/office/drawing/2014/main" id="{4B9E9F77-5221-0D7B-D5D5-33DD668CD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45" t="44736" r="22864" b="26260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F764C5A-CE9B-87B1-D564-55562C51F7CF}"/>
              </a:ext>
            </a:extLst>
          </p:cNvPr>
          <p:cNvSpPr/>
          <p:nvPr userDrawn="1"/>
        </p:nvSpPr>
        <p:spPr>
          <a:xfrm>
            <a:off x="1384852" y="1233576"/>
            <a:ext cx="9460948" cy="42351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C9B4F3E-C775-BEDC-276E-E273C8234005}"/>
              </a:ext>
            </a:extLst>
          </p:cNvPr>
          <p:cNvCxnSpPr>
            <a:cxnSpLocks/>
          </p:cNvCxnSpPr>
          <p:nvPr userDrawn="1"/>
        </p:nvCxnSpPr>
        <p:spPr>
          <a:xfrm>
            <a:off x="647700" y="6196511"/>
            <a:ext cx="99776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27D3C81C-E1FB-0007-E857-EB84CF07E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174" t="-21020" r="-16389" b="-11465"/>
          <a:stretch/>
        </p:blipFill>
        <p:spPr>
          <a:xfrm>
            <a:off x="10845800" y="5953046"/>
            <a:ext cx="1032256" cy="42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0943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7337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9914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166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865">
            <a:extLst>
              <a:ext uri="{FF2B5EF4-FFF2-40B4-BE49-F238E27FC236}">
                <a16:creationId xmlns:a16="http://schemas.microsoft.com/office/drawing/2014/main" id="{237C3445-3231-41D8-DD64-04424F2DF291}"/>
              </a:ext>
            </a:extLst>
          </p:cNvPr>
          <p:cNvSpPr/>
          <p:nvPr userDrawn="1"/>
        </p:nvSpPr>
        <p:spPr>
          <a:xfrm>
            <a:off x="6651319" y="4180098"/>
            <a:ext cx="324236" cy="324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3430" y="9320"/>
                </a:moveTo>
                <a:cubicBezTo>
                  <a:pt x="11975" y="9320"/>
                  <a:pt x="11780" y="10196"/>
                  <a:pt x="11780" y="10196"/>
                </a:cubicBezTo>
                <a:lnTo>
                  <a:pt x="11782" y="9327"/>
                </a:lnTo>
                <a:lnTo>
                  <a:pt x="9818" y="9327"/>
                </a:lnTo>
                <a:lnTo>
                  <a:pt x="9818" y="14727"/>
                </a:lnTo>
                <a:lnTo>
                  <a:pt x="11782" y="14727"/>
                </a:lnTo>
                <a:lnTo>
                  <a:pt x="11782" y="11782"/>
                </a:lnTo>
                <a:cubicBezTo>
                  <a:pt x="11782" y="11782"/>
                  <a:pt x="11782" y="10793"/>
                  <a:pt x="12616" y="10793"/>
                </a:cubicBezTo>
                <a:cubicBezTo>
                  <a:pt x="13086" y="10793"/>
                  <a:pt x="13255" y="11232"/>
                  <a:pt x="13255" y="11782"/>
                </a:cubicBezTo>
                <a:lnTo>
                  <a:pt x="13255" y="14727"/>
                </a:lnTo>
                <a:lnTo>
                  <a:pt x="15218" y="14727"/>
                </a:lnTo>
                <a:lnTo>
                  <a:pt x="15218" y="11782"/>
                </a:lnTo>
                <a:cubicBezTo>
                  <a:pt x="15218" y="10245"/>
                  <a:pt x="14550" y="9320"/>
                  <a:pt x="13430" y="9320"/>
                </a:cubicBezTo>
                <a:moveTo>
                  <a:pt x="6873" y="14727"/>
                </a:moveTo>
                <a:lnTo>
                  <a:pt x="8829" y="14727"/>
                </a:lnTo>
                <a:lnTo>
                  <a:pt x="8829" y="9320"/>
                </a:lnTo>
                <a:lnTo>
                  <a:pt x="6873" y="9320"/>
                </a:lnTo>
                <a:cubicBezTo>
                  <a:pt x="6873" y="9320"/>
                  <a:pt x="6873" y="14727"/>
                  <a:pt x="6873" y="14727"/>
                </a:cubicBezTo>
                <a:close/>
                <a:moveTo>
                  <a:pt x="7851" y="6873"/>
                </a:moveTo>
                <a:cubicBezTo>
                  <a:pt x="7311" y="6873"/>
                  <a:pt x="6873" y="7313"/>
                  <a:pt x="6873" y="7856"/>
                </a:cubicBezTo>
                <a:cubicBezTo>
                  <a:pt x="6873" y="8399"/>
                  <a:pt x="7311" y="8839"/>
                  <a:pt x="7851" y="8839"/>
                </a:cubicBezTo>
                <a:cubicBezTo>
                  <a:pt x="8391" y="8839"/>
                  <a:pt x="8829" y="8399"/>
                  <a:pt x="8829" y="7856"/>
                </a:cubicBezTo>
                <a:cubicBezTo>
                  <a:pt x="8829" y="7313"/>
                  <a:pt x="8391" y="6873"/>
                  <a:pt x="7851" y="6873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/>
          </a:p>
        </p:txBody>
      </p:sp>
      <p:sp>
        <p:nvSpPr>
          <p:cNvPr id="12" name="Shape 2869">
            <a:extLst>
              <a:ext uri="{FF2B5EF4-FFF2-40B4-BE49-F238E27FC236}">
                <a16:creationId xmlns:a16="http://schemas.microsoft.com/office/drawing/2014/main" id="{8A534C34-DDAC-9B2E-29A3-D8CBAA059083}"/>
              </a:ext>
            </a:extLst>
          </p:cNvPr>
          <p:cNvSpPr/>
          <p:nvPr userDrawn="1"/>
        </p:nvSpPr>
        <p:spPr>
          <a:xfrm>
            <a:off x="5933882" y="4180098"/>
            <a:ext cx="324236" cy="3242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3745"/>
                </a:moveTo>
                <a:cubicBezTo>
                  <a:pt x="14727" y="14287"/>
                  <a:pt x="14287" y="14727"/>
                  <a:pt x="13745" y="14727"/>
                </a:cubicBezTo>
                <a:lnTo>
                  <a:pt x="7855" y="14727"/>
                </a:lnTo>
                <a:cubicBezTo>
                  <a:pt x="7313" y="14727"/>
                  <a:pt x="6873" y="14287"/>
                  <a:pt x="6873" y="13745"/>
                </a:cubicBezTo>
                <a:lnTo>
                  <a:pt x="6873" y="10309"/>
                </a:lnTo>
                <a:lnTo>
                  <a:pt x="7904" y="10309"/>
                </a:lnTo>
                <a:cubicBezTo>
                  <a:pt x="7877" y="10470"/>
                  <a:pt x="7855" y="10632"/>
                  <a:pt x="7855" y="10800"/>
                </a:cubicBezTo>
                <a:cubicBezTo>
                  <a:pt x="7855" y="12427"/>
                  <a:pt x="9173" y="13745"/>
                  <a:pt x="10800" y="13745"/>
                </a:cubicBezTo>
                <a:cubicBezTo>
                  <a:pt x="12426" y="13745"/>
                  <a:pt x="13745" y="12427"/>
                  <a:pt x="13745" y="10800"/>
                </a:cubicBezTo>
                <a:cubicBezTo>
                  <a:pt x="13745" y="10632"/>
                  <a:pt x="13723" y="10470"/>
                  <a:pt x="13696" y="10309"/>
                </a:cubicBezTo>
                <a:lnTo>
                  <a:pt x="14727" y="10309"/>
                </a:lnTo>
                <a:cubicBezTo>
                  <a:pt x="14727" y="10309"/>
                  <a:pt x="14727" y="13745"/>
                  <a:pt x="14727" y="13745"/>
                </a:cubicBezTo>
                <a:close/>
                <a:moveTo>
                  <a:pt x="10800" y="8836"/>
                </a:moveTo>
                <a:cubicBezTo>
                  <a:pt x="11884" y="8836"/>
                  <a:pt x="12764" y="9716"/>
                  <a:pt x="12764" y="10800"/>
                </a:cubicBezTo>
                <a:cubicBezTo>
                  <a:pt x="12764" y="11884"/>
                  <a:pt x="11884" y="12764"/>
                  <a:pt x="10800" y="12764"/>
                </a:cubicBezTo>
                <a:cubicBezTo>
                  <a:pt x="9716" y="12764"/>
                  <a:pt x="8836" y="11884"/>
                  <a:pt x="8836" y="10800"/>
                </a:cubicBezTo>
                <a:cubicBezTo>
                  <a:pt x="8836" y="9716"/>
                  <a:pt x="9716" y="8836"/>
                  <a:pt x="10800" y="8836"/>
                </a:cubicBezTo>
                <a:moveTo>
                  <a:pt x="12764" y="7364"/>
                </a:moveTo>
                <a:lnTo>
                  <a:pt x="14236" y="7364"/>
                </a:lnTo>
                <a:lnTo>
                  <a:pt x="14236" y="8836"/>
                </a:lnTo>
                <a:lnTo>
                  <a:pt x="12764" y="8836"/>
                </a:lnTo>
                <a:cubicBezTo>
                  <a:pt x="12764" y="8836"/>
                  <a:pt x="12764" y="7364"/>
                  <a:pt x="12764" y="7364"/>
                </a:cubicBezTo>
                <a:close/>
                <a:moveTo>
                  <a:pt x="13745" y="5891"/>
                </a:moveTo>
                <a:lnTo>
                  <a:pt x="7855" y="5891"/>
                </a:lnTo>
                <a:cubicBezTo>
                  <a:pt x="6770" y="5891"/>
                  <a:pt x="5891" y="6770"/>
                  <a:pt x="5891" y="7855"/>
                </a:cubicBezTo>
                <a:lnTo>
                  <a:pt x="5891" y="13745"/>
                </a:lnTo>
                <a:cubicBezTo>
                  <a:pt x="5891" y="14830"/>
                  <a:pt x="6770" y="15709"/>
                  <a:pt x="7855" y="15709"/>
                </a:cubicBezTo>
                <a:lnTo>
                  <a:pt x="13745" y="15709"/>
                </a:lnTo>
                <a:cubicBezTo>
                  <a:pt x="14830" y="15709"/>
                  <a:pt x="15709" y="14830"/>
                  <a:pt x="15709" y="13745"/>
                </a:cubicBezTo>
                <a:lnTo>
                  <a:pt x="15709" y="7855"/>
                </a:lnTo>
                <a:cubicBezTo>
                  <a:pt x="15709" y="6770"/>
                  <a:pt x="14830" y="5891"/>
                  <a:pt x="13745" y="5891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/>
          </a:p>
        </p:txBody>
      </p:sp>
      <p:sp>
        <p:nvSpPr>
          <p:cNvPr id="13" name="Shape 2836">
            <a:extLst>
              <a:ext uri="{FF2B5EF4-FFF2-40B4-BE49-F238E27FC236}">
                <a16:creationId xmlns:a16="http://schemas.microsoft.com/office/drawing/2014/main" id="{D75E78F3-EE56-85D8-F932-D6BBE76CD519}"/>
              </a:ext>
            </a:extLst>
          </p:cNvPr>
          <p:cNvSpPr/>
          <p:nvPr userDrawn="1"/>
        </p:nvSpPr>
        <p:spPr>
          <a:xfrm>
            <a:off x="5319984" y="4276192"/>
            <a:ext cx="181565" cy="1320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bg1"/>
          </a:solidFill>
          <a:ln w="6350">
            <a:solidFill>
              <a:schemeClr val="bg1"/>
            </a:solidFill>
            <a:miter lim="400000"/>
          </a:ln>
        </p:spPr>
        <p:txBody>
          <a:bodyPr lIns="19045" tIns="19045" rIns="19045" bIns="19045" anchor="ctr"/>
          <a:lstStyle/>
          <a:p>
            <a:pPr algn="r"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13E5523A-6125-7621-54CA-402FBF96920C}"/>
              </a:ext>
            </a:extLst>
          </p:cNvPr>
          <p:cNvSpPr/>
          <p:nvPr userDrawn="1"/>
        </p:nvSpPr>
        <p:spPr>
          <a:xfrm>
            <a:off x="5250928" y="4180097"/>
            <a:ext cx="324236" cy="324236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7141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95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8FACB-D8B1-E98D-3C2D-435E8C66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EA1A6EC-317F-FA1C-4DD4-53E41DCB92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6F2A04-A668-B1FD-C8D6-56EC31A9B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D1E817-D6E6-3322-6B77-6897F81C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4328-8647-44FB-B53F-BBD734F52BF8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D7998F-92EE-1511-93EC-B15CBB9C4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0654FB-E891-E5B2-59FB-0A2507F3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D26DD-F314-4B38-95E4-C835EC98C5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436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14398-EBDE-721A-164B-48C69E16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1B8510F-DEC0-7463-6FB7-90F5CDAF3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CCD040-1592-EB7C-BBD3-62E063B9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4328-8647-44FB-B53F-BBD734F52BF8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A7358D-90B3-8A58-99F5-650BEE7A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07D495-9C03-1F4E-EA67-61DB04D51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D26DD-F314-4B38-95E4-C835EC98C5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8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915EC7-4289-E506-92F3-C2FAC598A9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FA3563-EBBE-FEAC-84D6-86413B8E3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945A0E-59BE-AE3C-6DE5-B847AAE8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D4328-8647-44FB-B53F-BBD734F52BF8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39A42E-E1D2-7A89-9F40-8553E824C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2DFAFD-8F03-3FA7-B970-EF4914C6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D26DD-F314-4B38-95E4-C835EC98C5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763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F6910E-4472-4FFB-6995-D456F1CD0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6CC5A4-64F6-F7AD-BA8F-5686C4E6A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AB2ED2-3C78-9597-8BF4-381D2896F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2344-E567-4C9F-AD93-44BDDB6AB8EC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2C055E-BB71-A672-3CCA-BEE2700C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76C437-8CF7-8A66-A2DE-D87465268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F2E0-CAF3-4578-8AEE-FDFF329783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848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808A76D-4350-8555-1457-F507904F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6FCD7A-AC2D-9839-7639-D218B6EEE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82DF5C-2840-6D6E-F79D-19FA86E96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D4328-8647-44FB-B53F-BBD734F52BF8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6B7E55-7C0B-C120-AEF9-1157C95065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DCD631-3A5F-0208-7940-14322E860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D26DD-F314-4B38-95E4-C835EC98C5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12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51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escuro, mesa, luz, aceso&#10;&#10;Descrição gerada automaticamente">
            <a:extLst>
              <a:ext uri="{FF2B5EF4-FFF2-40B4-BE49-F238E27FC236}">
                <a16:creationId xmlns:a16="http://schemas.microsoft.com/office/drawing/2014/main" id="{1C82D076-98FD-3973-669A-9980A3C28F4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91" t="1608" r="10113" b="12999"/>
          <a:stretch>
            <a:fillRect/>
          </a:stretch>
        </p:blipFill>
        <p:spPr>
          <a:xfrm>
            <a:off x="-5429" y="0"/>
            <a:ext cx="12192000" cy="6858000"/>
          </a:xfrm>
          <a:prstGeom prst="rect">
            <a:avLst/>
          </a:prstGeom>
          <a:ln w="12700"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0368641-9320-3FDD-4FA5-64A9D033E6D2}"/>
              </a:ext>
            </a:extLst>
          </p:cNvPr>
          <p:cNvSpPr txBox="1"/>
          <p:nvPr/>
        </p:nvSpPr>
        <p:spPr>
          <a:xfrm>
            <a:off x="1588748" y="700909"/>
            <a:ext cx="7863861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  <a:tabLst>
                <a:tab pos="2782888" algn="l"/>
              </a:tabLst>
            </a:pPr>
            <a:r>
              <a:rPr lang="da-DK" sz="4000" b="1" dirty="0">
                <a:solidFill>
                  <a:srgbClr val="FFFFFF"/>
                </a:solidFill>
                <a:latin typeface="GT America Bold" pitchFamily="2" charset="77"/>
              </a:rPr>
              <a:t>PLANEJAMENTO FINANCEIRO</a:t>
            </a:r>
            <a:endParaRPr lang="pt-BR" sz="3000" b="1" dirty="0">
              <a:solidFill>
                <a:srgbClr val="FFC971"/>
              </a:solidFill>
              <a:latin typeface="GT America Ultra Light" panose="00000300000000000000" pitchFamily="2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C681AD-20A2-C905-31E3-30C370372616}"/>
              </a:ext>
            </a:extLst>
          </p:cNvPr>
          <p:cNvSpPr txBox="1"/>
          <p:nvPr/>
        </p:nvSpPr>
        <p:spPr>
          <a:xfrm>
            <a:off x="1609245" y="428519"/>
            <a:ext cx="3495317" cy="263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12" spc="600" dirty="0">
                <a:solidFill>
                  <a:srgbClr val="FFC971"/>
                </a:solidFill>
                <a:latin typeface="Lora" pitchFamily="2" charset="0"/>
              </a:rPr>
              <a:t>GESTÃO DE RISCOS</a:t>
            </a:r>
          </a:p>
        </p:txBody>
      </p:sp>
      <p:cxnSp>
        <p:nvCxnSpPr>
          <p:cNvPr id="7" name="Conector Reto 3">
            <a:extLst>
              <a:ext uri="{FF2B5EF4-FFF2-40B4-BE49-F238E27FC236}">
                <a16:creationId xmlns:a16="http://schemas.microsoft.com/office/drawing/2014/main" id="{B1B7C922-8DA4-B8B0-D46E-049F5D6F051D}"/>
              </a:ext>
            </a:extLst>
          </p:cNvPr>
          <p:cNvCxnSpPr>
            <a:cxnSpLocks/>
          </p:cNvCxnSpPr>
          <p:nvPr/>
        </p:nvCxnSpPr>
        <p:spPr>
          <a:xfrm flipV="1">
            <a:off x="1181374" y="579120"/>
            <a:ext cx="0" cy="6456041"/>
          </a:xfrm>
          <a:prstGeom prst="line">
            <a:avLst/>
          </a:prstGeom>
          <a:ln>
            <a:gradFill>
              <a:gsLst>
                <a:gs pos="100000">
                  <a:srgbClr val="FFC971">
                    <a:alpha val="0"/>
                  </a:srgbClr>
                </a:gs>
                <a:gs pos="0">
                  <a:srgbClr val="FFC971"/>
                </a:gs>
              </a:gsLst>
              <a:lin ang="5400000" scaled="1"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2BB07DEC-2C80-6F23-7897-47BA3DBA78AC}"/>
              </a:ext>
            </a:extLst>
          </p:cNvPr>
          <p:cNvGrpSpPr/>
          <p:nvPr/>
        </p:nvGrpSpPr>
        <p:grpSpPr>
          <a:xfrm>
            <a:off x="2414034" y="2116738"/>
            <a:ext cx="3852688" cy="1267753"/>
            <a:chOff x="2607074" y="2392335"/>
            <a:chExt cx="3852688" cy="1267753"/>
          </a:xfrm>
        </p:grpSpPr>
        <p:sp>
          <p:nvSpPr>
            <p:cNvPr id="78" name="Forma Livre: Forma 77">
              <a:extLst>
                <a:ext uri="{FF2B5EF4-FFF2-40B4-BE49-F238E27FC236}">
                  <a16:creationId xmlns:a16="http://schemas.microsoft.com/office/drawing/2014/main" id="{9EE30414-F8D6-BA1C-D049-CC89DC66ACA6}"/>
                </a:ext>
              </a:extLst>
            </p:cNvPr>
            <p:cNvSpPr/>
            <p:nvPr/>
          </p:nvSpPr>
          <p:spPr>
            <a:xfrm rot="3415428" flipH="1">
              <a:off x="5146554" y="2346880"/>
              <a:ext cx="969688" cy="1656728"/>
            </a:xfrm>
            <a:custGeom>
              <a:avLst/>
              <a:gdLst>
                <a:gd name="connsiteX0" fmla="*/ 780601 w 969688"/>
                <a:gd name="connsiteY0" fmla="*/ 0 h 1656728"/>
                <a:gd name="connsiteX1" fmla="*/ 0 w 969688"/>
                <a:gd name="connsiteY1" fmla="*/ 508407 h 1656728"/>
                <a:gd name="connsiteX2" fmla="*/ 86522 w 969688"/>
                <a:gd name="connsiteY2" fmla="*/ 1266489 h 1656728"/>
                <a:gd name="connsiteX3" fmla="*/ 969688 w 969688"/>
                <a:gd name="connsiteY3" fmla="*/ 1656728 h 165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69688" h="1656728">
                  <a:moveTo>
                    <a:pt x="780601" y="0"/>
                  </a:moveTo>
                  <a:lnTo>
                    <a:pt x="0" y="508407"/>
                  </a:lnTo>
                  <a:lnTo>
                    <a:pt x="86522" y="1266489"/>
                  </a:lnTo>
                  <a:lnTo>
                    <a:pt x="969688" y="1656728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  <a:alpha val="30000"/>
              </a:scheme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F1D86AD2-1F73-1090-B310-198546681602}"/>
                </a:ext>
              </a:extLst>
            </p:cNvPr>
            <p:cNvSpPr/>
            <p:nvPr/>
          </p:nvSpPr>
          <p:spPr>
            <a:xfrm>
              <a:off x="5297274" y="2880621"/>
              <a:ext cx="605038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dirty="0">
                  <a:ln w="6600">
                    <a:noFill/>
                    <a:prstDash val="solid"/>
                  </a:ln>
                  <a:solidFill>
                    <a:srgbClr val="FFFFFF"/>
                  </a:solidFill>
                </a:rPr>
                <a:t>PT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id="{5CCD1CC7-3ACA-4016-A7A7-25C4AE11CED3}"/>
                </a:ext>
              </a:extLst>
            </p:cNvPr>
            <p:cNvSpPr txBox="1"/>
            <p:nvPr/>
          </p:nvSpPr>
          <p:spPr>
            <a:xfrm>
              <a:off x="2607074" y="2392335"/>
              <a:ext cx="1765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>
                  <a:solidFill>
                    <a:srgbClr val="FFFFFF"/>
                  </a:solidFill>
                  <a:latin typeface="GT America Ultra Light" panose="020B0604020202020204" charset="0"/>
                </a:defRPr>
              </a:lvl1pPr>
            </a:lstStyle>
            <a:p>
              <a:r>
                <a:rPr lang="pt-BR" dirty="0"/>
                <a:t>Planejamento</a:t>
              </a:r>
            </a:p>
            <a:p>
              <a:r>
                <a:rPr lang="pt-BR" dirty="0"/>
                <a:t>Tributário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BA8291F9-DED3-E6CE-E07A-50E900124A37}"/>
              </a:ext>
            </a:extLst>
          </p:cNvPr>
          <p:cNvGrpSpPr/>
          <p:nvPr/>
        </p:nvGrpSpPr>
        <p:grpSpPr>
          <a:xfrm>
            <a:off x="2242668" y="3042767"/>
            <a:ext cx="3108825" cy="1621105"/>
            <a:chOff x="2435708" y="3318364"/>
            <a:chExt cx="3108825" cy="1621105"/>
          </a:xfrm>
        </p:grpSpPr>
        <p:sp>
          <p:nvSpPr>
            <p:cNvPr id="76" name="Forma Livre: Forma 75">
              <a:extLst>
                <a:ext uri="{FF2B5EF4-FFF2-40B4-BE49-F238E27FC236}">
                  <a16:creationId xmlns:a16="http://schemas.microsoft.com/office/drawing/2014/main" id="{FAB64FC3-00AC-29A9-6B8B-4DD71C0FC2BB}"/>
                </a:ext>
              </a:extLst>
            </p:cNvPr>
            <p:cNvSpPr/>
            <p:nvPr/>
          </p:nvSpPr>
          <p:spPr>
            <a:xfrm rot="3415428" flipH="1">
              <a:off x="4012112" y="3407048"/>
              <a:ext cx="1621105" cy="1443737"/>
            </a:xfrm>
            <a:custGeom>
              <a:avLst/>
              <a:gdLst>
                <a:gd name="connsiteX0" fmla="*/ 1621105 w 1621105"/>
                <a:gd name="connsiteY0" fmla="*/ 387911 h 1443737"/>
                <a:gd name="connsiteX1" fmla="*/ 743205 w 1621105"/>
                <a:gd name="connsiteY1" fmla="*/ 0 h 1443737"/>
                <a:gd name="connsiteX2" fmla="*/ 0 w 1621105"/>
                <a:gd name="connsiteY2" fmla="*/ 484049 h 1443737"/>
                <a:gd name="connsiteX3" fmla="*/ 0 w 1621105"/>
                <a:gd name="connsiteY3" fmla="*/ 1443737 h 1443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1105" h="1443737">
                  <a:moveTo>
                    <a:pt x="1621105" y="387911"/>
                  </a:moveTo>
                  <a:lnTo>
                    <a:pt x="743205" y="0"/>
                  </a:lnTo>
                  <a:lnTo>
                    <a:pt x="0" y="484049"/>
                  </a:lnTo>
                  <a:lnTo>
                    <a:pt x="0" y="1443737"/>
                  </a:lnTo>
                  <a:close/>
                </a:path>
              </a:pathLst>
            </a:custGeom>
            <a:solidFill>
              <a:srgbClr val="374A5C">
                <a:alpha val="30000"/>
              </a:srgb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0677D1EF-DA31-6D2D-22F1-F8B52B877BF3}"/>
                </a:ext>
              </a:extLst>
            </p:cNvPr>
            <p:cNvSpPr/>
            <p:nvPr/>
          </p:nvSpPr>
          <p:spPr>
            <a:xfrm>
              <a:off x="4692201" y="3956261"/>
              <a:ext cx="623312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dirty="0">
                  <a:ln w="6600">
                    <a:noFill/>
                    <a:prstDash val="solid"/>
                  </a:ln>
                  <a:solidFill>
                    <a:srgbClr val="FFFFFF"/>
                  </a:solidFill>
                </a:rPr>
                <a:t>PA</a:t>
              </a:r>
              <a:endParaRPr lang="pt-BR" sz="3200" b="1" cap="none" spc="0" dirty="0">
                <a:ln w="6600">
                  <a:noFill/>
                  <a:prstDash val="solid"/>
                </a:ln>
                <a:solidFill>
                  <a:srgbClr val="FFFFFF"/>
                </a:solidFill>
              </a:endParaRP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30B19AEF-4D58-79C0-CA00-631625F010A9}"/>
                </a:ext>
              </a:extLst>
            </p:cNvPr>
            <p:cNvSpPr txBox="1"/>
            <p:nvPr/>
          </p:nvSpPr>
          <p:spPr>
            <a:xfrm>
              <a:off x="2435708" y="4026785"/>
              <a:ext cx="21080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rgbClr val="FFFFFF"/>
                  </a:solidFill>
                  <a:latin typeface="GT America Ultra Light" panose="020B0604020202020204" charset="0"/>
                </a:rPr>
                <a:t>Planejamento</a:t>
              </a:r>
            </a:p>
            <a:p>
              <a:pPr algn="ctr"/>
              <a:r>
                <a:rPr lang="pt-BR" dirty="0">
                  <a:solidFill>
                    <a:srgbClr val="FFFFFF"/>
                  </a:solidFill>
                  <a:latin typeface="GT America Ultra Light" panose="020B0604020202020204" charset="0"/>
                </a:rPr>
                <a:t>de Aposentadoria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322D28C2-45FC-2FB2-36E3-947333E524F4}"/>
              </a:ext>
            </a:extLst>
          </p:cNvPr>
          <p:cNvGrpSpPr/>
          <p:nvPr/>
        </p:nvGrpSpPr>
        <p:grpSpPr>
          <a:xfrm>
            <a:off x="2413727" y="4480513"/>
            <a:ext cx="3704245" cy="1727622"/>
            <a:chOff x="2606767" y="4756110"/>
            <a:chExt cx="3704245" cy="1727622"/>
          </a:xfrm>
        </p:grpSpPr>
        <p:sp>
          <p:nvSpPr>
            <p:cNvPr id="74" name="Forma Livre: Forma 73">
              <a:extLst>
                <a:ext uri="{FF2B5EF4-FFF2-40B4-BE49-F238E27FC236}">
                  <a16:creationId xmlns:a16="http://schemas.microsoft.com/office/drawing/2014/main" id="{1C6110D3-5D4B-3FB0-4D68-C85936EE6945}"/>
                </a:ext>
              </a:extLst>
            </p:cNvPr>
            <p:cNvSpPr/>
            <p:nvPr/>
          </p:nvSpPr>
          <p:spPr>
            <a:xfrm rot="3415428" flipH="1">
              <a:off x="4919782" y="4801023"/>
              <a:ext cx="1436143" cy="1346317"/>
            </a:xfrm>
            <a:custGeom>
              <a:avLst/>
              <a:gdLst>
                <a:gd name="connsiteX0" fmla="*/ 1436143 w 1436143"/>
                <a:gd name="connsiteY0" fmla="*/ 386921 h 1346317"/>
                <a:gd name="connsiteX1" fmla="*/ 775564 w 1436143"/>
                <a:gd name="connsiteY1" fmla="*/ 0 h 1346317"/>
                <a:gd name="connsiteX2" fmla="*/ 0 w 1436143"/>
                <a:gd name="connsiteY2" fmla="*/ 505126 h 1346317"/>
                <a:gd name="connsiteX3" fmla="*/ 1436143 w 1436143"/>
                <a:gd name="connsiteY3" fmla="*/ 1346317 h 1346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143" h="1346317">
                  <a:moveTo>
                    <a:pt x="1436143" y="386921"/>
                  </a:moveTo>
                  <a:lnTo>
                    <a:pt x="775564" y="0"/>
                  </a:lnTo>
                  <a:lnTo>
                    <a:pt x="0" y="505126"/>
                  </a:lnTo>
                  <a:lnTo>
                    <a:pt x="1436143" y="1346317"/>
                  </a:lnTo>
                  <a:close/>
                </a:path>
              </a:pathLst>
            </a:custGeom>
            <a:solidFill>
              <a:srgbClr val="5A6876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 dirty="0"/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26B57080-FA64-AA06-C2C2-693E0AE477D4}"/>
                </a:ext>
              </a:extLst>
            </p:cNvPr>
            <p:cNvSpPr/>
            <p:nvPr/>
          </p:nvSpPr>
          <p:spPr>
            <a:xfrm>
              <a:off x="5301474" y="4932805"/>
              <a:ext cx="596638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dirty="0">
                  <a:ln w="6600">
                    <a:noFill/>
                    <a:prstDash val="solid"/>
                  </a:ln>
                  <a:solidFill>
                    <a:schemeClr val="bg1">
                      <a:lumMod val="10000"/>
                    </a:schemeClr>
                  </a:solidFill>
                </a:rPr>
                <a:t>PS</a:t>
              </a:r>
              <a:endParaRPr lang="pt-BR" sz="3200" b="1" cap="none" spc="0" dirty="0">
                <a:ln w="6600">
                  <a:noFill/>
                  <a:prstDash val="solid"/>
                </a:ln>
                <a:solidFill>
                  <a:schemeClr val="bg1">
                    <a:lumMod val="10000"/>
                  </a:schemeClr>
                </a:solidFill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11D94236-264A-F978-E7B9-FF99A1EAACD9}"/>
                </a:ext>
              </a:extLst>
            </p:cNvPr>
            <p:cNvSpPr txBox="1"/>
            <p:nvPr/>
          </p:nvSpPr>
          <p:spPr>
            <a:xfrm>
              <a:off x="2606767" y="5529625"/>
              <a:ext cx="286626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chemeClr val="accent2">
                      <a:lumMod val="90000"/>
                    </a:schemeClr>
                  </a:solidFill>
                  <a:latin typeface="GT America Bold" panose="020B0604020202020204" charset="0"/>
                </a:rPr>
                <a:t>Planejamento</a:t>
              </a:r>
            </a:p>
            <a:p>
              <a:pPr algn="ctr"/>
              <a:r>
                <a:rPr lang="pt-BR" sz="2800" b="1" dirty="0">
                  <a:solidFill>
                    <a:schemeClr val="accent2">
                      <a:lumMod val="90000"/>
                    </a:schemeClr>
                  </a:solidFill>
                  <a:latin typeface="GT America Bold" panose="020B0604020202020204" charset="0"/>
                </a:rPr>
                <a:t>Sucessório</a:t>
              </a:r>
            </a:p>
          </p:txBody>
        </p:sp>
      </p:grpSp>
      <p:grpSp>
        <p:nvGrpSpPr>
          <p:cNvPr id="88" name="Agrupar 87">
            <a:extLst>
              <a:ext uri="{FF2B5EF4-FFF2-40B4-BE49-F238E27FC236}">
                <a16:creationId xmlns:a16="http://schemas.microsoft.com/office/drawing/2014/main" id="{17A18E3A-3691-695A-ADF1-CE68B414E07D}"/>
              </a:ext>
            </a:extLst>
          </p:cNvPr>
          <p:cNvGrpSpPr/>
          <p:nvPr/>
        </p:nvGrpSpPr>
        <p:grpSpPr>
          <a:xfrm>
            <a:off x="5872885" y="1995416"/>
            <a:ext cx="3626491" cy="1436739"/>
            <a:chOff x="6065925" y="2271013"/>
            <a:chExt cx="3626491" cy="1436739"/>
          </a:xfrm>
        </p:grpSpPr>
        <p:sp>
          <p:nvSpPr>
            <p:cNvPr id="68" name="Forma Livre: Forma 67">
              <a:extLst>
                <a:ext uri="{FF2B5EF4-FFF2-40B4-BE49-F238E27FC236}">
                  <a16:creationId xmlns:a16="http://schemas.microsoft.com/office/drawing/2014/main" id="{715F51BC-8774-3BEB-6048-8201F42221FC}"/>
                </a:ext>
              </a:extLst>
            </p:cNvPr>
            <p:cNvSpPr/>
            <p:nvPr/>
          </p:nvSpPr>
          <p:spPr>
            <a:xfrm rot="3415428" flipH="1">
              <a:off x="6022833" y="2314105"/>
              <a:ext cx="1436739" cy="1350555"/>
            </a:xfrm>
            <a:custGeom>
              <a:avLst/>
              <a:gdLst>
                <a:gd name="connsiteX0" fmla="*/ 1436739 w 1436739"/>
                <a:gd name="connsiteY0" fmla="*/ 841540 h 1350555"/>
                <a:gd name="connsiteX1" fmla="*/ 0 w 1436739"/>
                <a:gd name="connsiteY1" fmla="*/ 0 h 1350555"/>
                <a:gd name="connsiteX2" fmla="*/ 0 w 1436739"/>
                <a:gd name="connsiteY2" fmla="*/ 966783 h 1350555"/>
                <a:gd name="connsiteX3" fmla="*/ 655203 w 1436739"/>
                <a:gd name="connsiteY3" fmla="*/ 1350555 h 1350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6739" h="1350555">
                  <a:moveTo>
                    <a:pt x="1436739" y="841540"/>
                  </a:moveTo>
                  <a:lnTo>
                    <a:pt x="0" y="0"/>
                  </a:lnTo>
                  <a:lnTo>
                    <a:pt x="0" y="966783"/>
                  </a:lnTo>
                  <a:lnTo>
                    <a:pt x="655203" y="1350555"/>
                  </a:lnTo>
                  <a:close/>
                </a:path>
              </a:pathLst>
            </a:custGeom>
            <a:solidFill>
              <a:srgbClr val="7D6731">
                <a:alpha val="30000"/>
              </a:srgb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F9518933-CF7D-6442-E796-65214449B609}"/>
                </a:ext>
              </a:extLst>
            </p:cNvPr>
            <p:cNvSpPr/>
            <p:nvPr/>
          </p:nvSpPr>
          <p:spPr>
            <a:xfrm>
              <a:off x="6428801" y="2880621"/>
              <a:ext cx="635110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dirty="0">
                  <a:ln w="6600">
                    <a:noFill/>
                    <a:prstDash val="solid"/>
                  </a:ln>
                  <a:solidFill>
                    <a:srgbClr val="FFFFFF"/>
                  </a:solidFill>
                </a:rPr>
                <a:t>GF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11FE6E42-06CB-632F-FB9B-03FE87717B0F}"/>
                </a:ext>
              </a:extLst>
            </p:cNvPr>
            <p:cNvSpPr txBox="1"/>
            <p:nvPr/>
          </p:nvSpPr>
          <p:spPr>
            <a:xfrm>
              <a:off x="7927058" y="2392334"/>
              <a:ext cx="1765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>
                  <a:solidFill>
                    <a:srgbClr val="FFFFFF"/>
                  </a:solidFill>
                  <a:latin typeface="GT America Ultra Light" panose="020B0604020202020204" charset="0"/>
                </a:defRPr>
              </a:lvl1pPr>
            </a:lstStyle>
            <a:p>
              <a:r>
                <a:rPr lang="pt-BR" dirty="0"/>
                <a:t>Gestão</a:t>
              </a:r>
            </a:p>
            <a:p>
              <a:r>
                <a:rPr lang="pt-BR" dirty="0"/>
                <a:t>Financeira</a:t>
              </a:r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8F5D52CE-0DDA-1EC2-DAEC-23F156AA9AC4}"/>
              </a:ext>
            </a:extLst>
          </p:cNvPr>
          <p:cNvGrpSpPr/>
          <p:nvPr/>
        </p:nvGrpSpPr>
        <p:grpSpPr>
          <a:xfrm>
            <a:off x="5726984" y="4522115"/>
            <a:ext cx="3868228" cy="1686020"/>
            <a:chOff x="5920024" y="4797712"/>
            <a:chExt cx="3868228" cy="1686020"/>
          </a:xfrm>
        </p:grpSpPr>
        <p:sp>
          <p:nvSpPr>
            <p:cNvPr id="72" name="Forma Livre: Forma 71">
              <a:extLst>
                <a:ext uri="{FF2B5EF4-FFF2-40B4-BE49-F238E27FC236}">
                  <a16:creationId xmlns:a16="http://schemas.microsoft.com/office/drawing/2014/main" id="{85CA7182-BF89-2529-360B-3BC28896F356}"/>
                </a:ext>
              </a:extLst>
            </p:cNvPr>
            <p:cNvSpPr/>
            <p:nvPr/>
          </p:nvSpPr>
          <p:spPr>
            <a:xfrm rot="3415428" flipH="1">
              <a:off x="6259106" y="4458630"/>
              <a:ext cx="972414" cy="1650577"/>
            </a:xfrm>
            <a:custGeom>
              <a:avLst/>
              <a:gdLst>
                <a:gd name="connsiteX0" fmla="*/ 887044 w 972414"/>
                <a:gd name="connsiteY0" fmla="*/ 391952 h 1650577"/>
                <a:gd name="connsiteX1" fmla="*/ 0 w 972414"/>
                <a:gd name="connsiteY1" fmla="*/ 0 h 1650577"/>
                <a:gd name="connsiteX2" fmla="*/ 188385 w 972414"/>
                <a:gd name="connsiteY2" fmla="*/ 1650577 h 1650577"/>
                <a:gd name="connsiteX3" fmla="*/ 972414 w 972414"/>
                <a:gd name="connsiteY3" fmla="*/ 1139939 h 165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2414" h="1650577">
                  <a:moveTo>
                    <a:pt x="887044" y="391952"/>
                  </a:moveTo>
                  <a:lnTo>
                    <a:pt x="0" y="0"/>
                  </a:lnTo>
                  <a:lnTo>
                    <a:pt x="188385" y="1650577"/>
                  </a:lnTo>
                  <a:lnTo>
                    <a:pt x="972414" y="1139939"/>
                  </a:lnTo>
                  <a:close/>
                </a:path>
              </a:pathLst>
            </a:custGeom>
            <a:solidFill>
              <a:srgbClr val="D0AD74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F1833343-B0C3-AF5F-8402-79D320740014}"/>
                </a:ext>
              </a:extLst>
            </p:cNvPr>
            <p:cNvSpPr/>
            <p:nvPr/>
          </p:nvSpPr>
          <p:spPr>
            <a:xfrm>
              <a:off x="6407962" y="4932805"/>
              <a:ext cx="676788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cap="none" spc="0" dirty="0">
                  <a:ln w="6600">
                    <a:noFill/>
                    <a:prstDash val="solid"/>
                  </a:ln>
                  <a:solidFill>
                    <a:schemeClr val="bg1">
                      <a:lumMod val="10000"/>
                    </a:schemeClr>
                  </a:solidFill>
                </a:rPr>
                <a:t>GR</a:t>
              </a:r>
            </a:p>
          </p:txBody>
        </p:sp>
        <p:sp>
          <p:nvSpPr>
            <p:cNvPr id="20" name="CaixaDeTexto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9AA7BB67-46A0-DEB0-9D6F-7739356CE5FD}"/>
                </a:ext>
              </a:extLst>
            </p:cNvPr>
            <p:cNvSpPr txBox="1"/>
            <p:nvPr/>
          </p:nvSpPr>
          <p:spPr>
            <a:xfrm>
              <a:off x="6551001" y="5529625"/>
              <a:ext cx="32372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800" b="1" dirty="0">
                  <a:solidFill>
                    <a:srgbClr val="FFC971"/>
                  </a:solidFill>
                  <a:latin typeface="GT America Bold" panose="020B0604020202020204" charset="0"/>
                </a:rPr>
                <a:t>Gestão de</a:t>
              </a:r>
            </a:p>
            <a:p>
              <a:pPr algn="ctr"/>
              <a:r>
                <a:rPr lang="pt-BR" sz="2800" b="1" dirty="0">
                  <a:solidFill>
                    <a:srgbClr val="FFC971"/>
                  </a:solidFill>
                  <a:latin typeface="GT America Bold" panose="020B0604020202020204" charset="0"/>
                </a:rPr>
                <a:t>Riscos</a:t>
              </a:r>
            </a:p>
          </p:txBody>
        </p:sp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2077CCA5-5BFE-E04F-5637-EA8518A3D9FD}"/>
              </a:ext>
            </a:extLst>
          </p:cNvPr>
          <p:cNvGrpSpPr/>
          <p:nvPr/>
        </p:nvGrpSpPr>
        <p:grpSpPr>
          <a:xfrm>
            <a:off x="5315137" y="3173037"/>
            <a:ext cx="4292271" cy="1700068"/>
            <a:chOff x="5508177" y="3448634"/>
            <a:chExt cx="4292271" cy="1700068"/>
          </a:xfrm>
        </p:grpSpPr>
        <p:sp>
          <p:nvSpPr>
            <p:cNvPr id="67" name="Hexágono 66">
              <a:extLst>
                <a:ext uri="{FF2B5EF4-FFF2-40B4-BE49-F238E27FC236}">
                  <a16:creationId xmlns:a16="http://schemas.microsoft.com/office/drawing/2014/main" id="{5C40D2DF-3C11-DA06-A3B7-A149A24D37C6}"/>
                </a:ext>
              </a:extLst>
            </p:cNvPr>
            <p:cNvSpPr/>
            <p:nvPr/>
          </p:nvSpPr>
          <p:spPr>
            <a:xfrm rot="16200000">
              <a:off x="5400177" y="3556634"/>
              <a:ext cx="1566000" cy="1350000"/>
            </a:xfrm>
            <a:prstGeom prst="hexagon">
              <a:avLst/>
            </a:prstGeom>
            <a:solidFill>
              <a:schemeClr val="tx2"/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0" name="Forma Livre: Forma 69">
              <a:extLst>
                <a:ext uri="{FF2B5EF4-FFF2-40B4-BE49-F238E27FC236}">
                  <a16:creationId xmlns:a16="http://schemas.microsoft.com/office/drawing/2014/main" id="{255FAAC2-8764-1962-7CCB-14DBD5D1F8D0}"/>
                </a:ext>
              </a:extLst>
            </p:cNvPr>
            <p:cNvSpPr/>
            <p:nvPr/>
          </p:nvSpPr>
          <p:spPr>
            <a:xfrm rot="3415428" flipH="1">
              <a:off x="6737703" y="3620848"/>
              <a:ext cx="1614921" cy="1440788"/>
            </a:xfrm>
            <a:custGeom>
              <a:avLst/>
              <a:gdLst>
                <a:gd name="connsiteX0" fmla="*/ 1614921 w 1614921"/>
                <a:gd name="connsiteY0" fmla="*/ 0 h 1440788"/>
                <a:gd name="connsiteX1" fmla="*/ 0 w 1614921"/>
                <a:gd name="connsiteY1" fmla="*/ 1051799 h 1440788"/>
                <a:gd name="connsiteX2" fmla="*/ 880339 w 1614921"/>
                <a:gd name="connsiteY2" fmla="*/ 1440788 h 1440788"/>
                <a:gd name="connsiteX3" fmla="*/ 1614921 w 1614921"/>
                <a:gd name="connsiteY3" fmla="*/ 962355 h 1440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14921" h="1440788">
                  <a:moveTo>
                    <a:pt x="1614921" y="0"/>
                  </a:moveTo>
                  <a:lnTo>
                    <a:pt x="0" y="1051799"/>
                  </a:lnTo>
                  <a:lnTo>
                    <a:pt x="880339" y="1440788"/>
                  </a:lnTo>
                  <a:lnTo>
                    <a:pt x="1614921" y="962355"/>
                  </a:lnTo>
                  <a:close/>
                </a:path>
              </a:pathLst>
            </a:custGeom>
            <a:solidFill>
              <a:srgbClr val="A58745">
                <a:alpha val="30000"/>
              </a:srgbClr>
            </a:solidFill>
            <a:ln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pic>
          <p:nvPicPr>
            <p:cNvPr id="8" name="Imagem 7" descr="Uma imagem contendo faca&#10;&#10;Descrição gerada automaticamente">
              <a:extLst>
                <a:ext uri="{FF2B5EF4-FFF2-40B4-BE49-F238E27FC236}">
                  <a16:creationId xmlns:a16="http://schemas.microsoft.com/office/drawing/2014/main" id="{CE0BF025-DE05-B4E0-9E99-B46BBA81C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42670" y="4004658"/>
              <a:ext cx="808331" cy="322201"/>
            </a:xfrm>
            <a:prstGeom prst="rect">
              <a:avLst/>
            </a:prstGeom>
          </p:spPr>
        </p:pic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B3E04DD6-E256-B062-D5E9-1F0927CAC118}"/>
                </a:ext>
              </a:extLst>
            </p:cNvPr>
            <p:cNvSpPr txBox="1"/>
            <p:nvPr/>
          </p:nvSpPr>
          <p:spPr>
            <a:xfrm>
              <a:off x="8035090" y="3975442"/>
              <a:ext cx="17653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>
                  <a:solidFill>
                    <a:srgbClr val="FFFFFF"/>
                  </a:solidFill>
                  <a:latin typeface="GT America Ultra Light" panose="020B0604020202020204" charset="0"/>
                </a:defRPr>
              </a:lvl1pPr>
            </a:lstStyle>
            <a:p>
              <a:r>
                <a:rPr lang="pt-BR" dirty="0"/>
                <a:t>Gestão</a:t>
              </a:r>
            </a:p>
            <a:p>
              <a:r>
                <a:rPr lang="pt-BR" dirty="0"/>
                <a:t>De Ativos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F9DCE931-4183-337E-8DAD-10900421C5DC}"/>
                </a:ext>
              </a:extLst>
            </p:cNvPr>
            <p:cNvSpPr/>
            <p:nvPr/>
          </p:nvSpPr>
          <p:spPr>
            <a:xfrm>
              <a:off x="6952740" y="3956261"/>
              <a:ext cx="694421" cy="58477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pt-BR" sz="3200" b="1" dirty="0">
                  <a:ln w="6600">
                    <a:noFill/>
                    <a:prstDash val="solid"/>
                  </a:ln>
                  <a:solidFill>
                    <a:srgbClr val="FFFFFF"/>
                  </a:solidFill>
                </a:rPr>
                <a:t>GA</a:t>
              </a:r>
            </a:p>
          </p:txBody>
        </p:sp>
      </p:grpSp>
      <p:cxnSp>
        <p:nvCxnSpPr>
          <p:cNvPr id="99" name="Conector Reto 3">
            <a:extLst>
              <a:ext uri="{FF2B5EF4-FFF2-40B4-BE49-F238E27FC236}">
                <a16:creationId xmlns:a16="http://schemas.microsoft.com/office/drawing/2014/main" id="{3F162558-FB6A-2187-AEF6-DD3EAB3E41DD}"/>
              </a:ext>
            </a:extLst>
          </p:cNvPr>
          <p:cNvCxnSpPr>
            <a:cxnSpLocks/>
          </p:cNvCxnSpPr>
          <p:nvPr/>
        </p:nvCxnSpPr>
        <p:spPr>
          <a:xfrm>
            <a:off x="1528462" y="2940828"/>
            <a:ext cx="2694433" cy="0"/>
          </a:xfrm>
          <a:prstGeom prst="line">
            <a:avLst/>
          </a:prstGeom>
          <a:ln w="12700">
            <a:gradFill flip="none" rotWithShape="1">
              <a:gsLst>
                <a:gs pos="87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FFC971"/>
                </a:gs>
              </a:gsLst>
              <a:lin ang="108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2" name="Conector Reto 3">
            <a:extLst>
              <a:ext uri="{FF2B5EF4-FFF2-40B4-BE49-F238E27FC236}">
                <a16:creationId xmlns:a16="http://schemas.microsoft.com/office/drawing/2014/main" id="{ECC5C398-FC3D-CEF8-A4C7-ADF0A54C5CF1}"/>
              </a:ext>
            </a:extLst>
          </p:cNvPr>
          <p:cNvCxnSpPr>
            <a:cxnSpLocks/>
          </p:cNvCxnSpPr>
          <p:nvPr/>
        </p:nvCxnSpPr>
        <p:spPr>
          <a:xfrm>
            <a:off x="1528462" y="5000912"/>
            <a:ext cx="2694433" cy="0"/>
          </a:xfrm>
          <a:prstGeom prst="line">
            <a:avLst/>
          </a:prstGeom>
          <a:ln w="12700">
            <a:gradFill flip="none" rotWithShape="1">
              <a:gsLst>
                <a:gs pos="87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FFC971"/>
                </a:gs>
              </a:gsLst>
              <a:lin ang="108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Conector Reto 3">
            <a:extLst>
              <a:ext uri="{FF2B5EF4-FFF2-40B4-BE49-F238E27FC236}">
                <a16:creationId xmlns:a16="http://schemas.microsoft.com/office/drawing/2014/main" id="{B4E5C5A8-BD22-4672-937C-ACD728190344}"/>
              </a:ext>
            </a:extLst>
          </p:cNvPr>
          <p:cNvCxnSpPr>
            <a:cxnSpLocks/>
          </p:cNvCxnSpPr>
          <p:nvPr/>
        </p:nvCxnSpPr>
        <p:spPr>
          <a:xfrm flipH="1">
            <a:off x="7803038" y="2940828"/>
            <a:ext cx="2694433" cy="0"/>
          </a:xfrm>
          <a:prstGeom prst="line">
            <a:avLst/>
          </a:prstGeom>
          <a:ln w="12700">
            <a:gradFill flip="none" rotWithShape="1">
              <a:gsLst>
                <a:gs pos="87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FFC971"/>
                </a:gs>
              </a:gsLst>
              <a:lin ang="108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Conector Reto 3">
            <a:extLst>
              <a:ext uri="{FF2B5EF4-FFF2-40B4-BE49-F238E27FC236}">
                <a16:creationId xmlns:a16="http://schemas.microsoft.com/office/drawing/2014/main" id="{2EAFC397-ED49-744A-3F98-CEAA1BF82611}"/>
              </a:ext>
            </a:extLst>
          </p:cNvPr>
          <p:cNvCxnSpPr>
            <a:cxnSpLocks/>
          </p:cNvCxnSpPr>
          <p:nvPr/>
        </p:nvCxnSpPr>
        <p:spPr>
          <a:xfrm flipH="1">
            <a:off x="7803038" y="5000912"/>
            <a:ext cx="2694433" cy="0"/>
          </a:xfrm>
          <a:prstGeom prst="line">
            <a:avLst/>
          </a:prstGeom>
          <a:ln w="12700">
            <a:gradFill flip="none" rotWithShape="1">
              <a:gsLst>
                <a:gs pos="87000">
                  <a:schemeClr val="accent1">
                    <a:lumMod val="5000"/>
                    <a:lumOff val="95000"/>
                    <a:alpha val="0"/>
                  </a:schemeClr>
                </a:gs>
                <a:gs pos="0">
                  <a:srgbClr val="FFC971"/>
                </a:gs>
              </a:gsLst>
              <a:lin ang="108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193DF82C-ED48-CD25-018D-04FE3CE37ACE}"/>
              </a:ext>
            </a:extLst>
          </p:cNvPr>
          <p:cNvSpPr txBox="1"/>
          <p:nvPr/>
        </p:nvSpPr>
        <p:spPr>
          <a:xfrm>
            <a:off x="1607455" y="1227919"/>
            <a:ext cx="329609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dirty="0">
                <a:solidFill>
                  <a:srgbClr val="E5B46E"/>
                </a:solidFill>
                <a:latin typeface="GT America Ultra Light" panose="020B0604020202020204" charset="0"/>
              </a:rPr>
              <a:t>Atendimento 360</a:t>
            </a:r>
          </a:p>
        </p:txBody>
      </p:sp>
      <p:pic>
        <p:nvPicPr>
          <p:cNvPr id="144" name="Imagem 143" descr="Uma imagem contendo faca&#10;&#10;Descrição gerada automaticamente">
            <a:extLst>
              <a:ext uri="{FF2B5EF4-FFF2-40B4-BE49-F238E27FC236}">
                <a16:creationId xmlns:a16="http://schemas.microsoft.com/office/drawing/2014/main" id="{4FC28BAD-1AAF-22F7-F416-0F4D6C4A58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43" y="446345"/>
            <a:ext cx="410366" cy="16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6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6AEC0-78A5-3CBF-F77C-299CCBA2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349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C6AD5-1E7B-EA09-8452-F1A90B4A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44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6AC3-6180-EBD6-82ED-98EC42FE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977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704FB-E5FD-ED13-D612-98629A83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203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27D5-1092-C047-98AB-C2D5A50A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803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B2A3-9829-EB1C-87A5-7619D04A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35002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2025-89E7-224A-D452-F5953DC4D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46107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2BCA3E-B061-B032-6C21-60E6F78C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70255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E3765-DEAD-4FF2-33EF-AA1250E55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74642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4E4D7C8-0B07-D0B6-693C-CE39FC1BA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837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45B6C-A7A7-2992-9C33-BFAE3286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51257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30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Alta Vista">
      <a:dk1>
        <a:srgbClr val="001845"/>
      </a:dk1>
      <a:lt1>
        <a:srgbClr val="EBEDF2"/>
      </a:lt1>
      <a:dk2>
        <a:srgbClr val="001233"/>
      </a:dk2>
      <a:lt2>
        <a:srgbClr val="0466C8"/>
      </a:lt2>
      <a:accent1>
        <a:srgbClr val="FFC971"/>
      </a:accent1>
      <a:accent2>
        <a:srgbClr val="EBEDF2"/>
      </a:accent2>
      <a:accent3>
        <a:srgbClr val="886B25"/>
      </a:accent3>
      <a:accent4>
        <a:srgbClr val="C8686D"/>
      </a:accent4>
      <a:accent5>
        <a:srgbClr val="7EC868"/>
      </a:accent5>
      <a:accent6>
        <a:srgbClr val="023E7D"/>
      </a:accent6>
      <a:hlink>
        <a:srgbClr val="002855"/>
      </a:hlink>
      <a:folHlink>
        <a:srgbClr val="0353A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23221</TotalTime>
  <Words>13</Words>
  <Application>Microsoft Office PowerPoint</Application>
  <PresentationFormat>Widescreen</PresentationFormat>
  <Paragraphs>13</Paragraphs>
  <Slides>14</Slides>
  <Notes>13</Notes>
  <HiddenSlides>2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michel hahn</dc:creator>
  <cp:lastModifiedBy>Felipe Baptistella</cp:lastModifiedBy>
  <cp:revision>272</cp:revision>
  <dcterms:created xsi:type="dcterms:W3CDTF">2024-09-18T10:28:47Z</dcterms:created>
  <dcterms:modified xsi:type="dcterms:W3CDTF">2026-07-17T21:11:51Z</dcterms:modified>
</cp:coreProperties>
</file>